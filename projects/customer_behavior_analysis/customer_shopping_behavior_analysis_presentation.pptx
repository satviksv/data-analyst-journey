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Platypi Medium"/>
      <p:regular r:id="rId17"/>
    </p:embeddedFont>
    <p:embeddedFont>
      <p:font typeface="Platypi Medium"/>
      <p:regular r:id="rId18"/>
    </p:embeddedFont>
    <p:embeddedFont>
      <p:font typeface="Platypi Medium"/>
      <p:regular r:id="rId19"/>
    </p:embeddedFont>
    <p:embeddedFont>
      <p:font typeface="Platypi Medium"/>
      <p:regular r:id="rId20"/>
    </p:embeddedFont>
    <p:embeddedFont>
      <p:font typeface="Source Serif 4"/>
      <p:regular r:id="rId21"/>
    </p:embeddedFont>
    <p:embeddedFont>
      <p:font typeface="Source Serif 4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0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11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Uncovering insights from transactional data to guide strategic business decisions.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58460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Project Overview &amp; Dataset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5691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Project Goal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150281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Analyze 3,900 purchases to understand spending, segments, preferences, and subscriptions.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856321" y="35691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Dataset Snapshot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856321" y="4150281"/>
            <a:ext cx="3501509" cy="2415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Rows: 3,900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Columns: 18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Key Features: Demographics, Purchase Details, Behavior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Missing Data: 37 in Review Rating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6984" y="830104"/>
            <a:ext cx="7870031" cy="113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Exploratory Data Analysis (Python)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36984" y="2186583"/>
            <a:ext cx="18192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36984" y="2472928"/>
            <a:ext cx="7870031" cy="2286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6" name="Text 3"/>
          <p:cNvSpPr/>
          <p:nvPr/>
        </p:nvSpPr>
        <p:spPr>
          <a:xfrm>
            <a:off x="636984" y="2609612"/>
            <a:ext cx="3115389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 Loading &amp; Exploration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36984" y="2981444"/>
            <a:ext cx="7870031" cy="262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Imported with pandas, checked structure and summary statistics.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36984" y="3526274"/>
            <a:ext cx="18192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6984" y="3812619"/>
            <a:ext cx="7870031" cy="2286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0" name="Text 7"/>
          <p:cNvSpPr/>
          <p:nvPr/>
        </p:nvSpPr>
        <p:spPr>
          <a:xfrm>
            <a:off x="636984" y="3949303"/>
            <a:ext cx="2274927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 Cleaning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636984" y="4321135"/>
            <a:ext cx="7870031" cy="262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Handled missing 'Review Rating' by median imputation, standardized column names.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36984" y="4865965"/>
            <a:ext cx="18192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36984" y="5152311"/>
            <a:ext cx="7870031" cy="2286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4" name="Text 11"/>
          <p:cNvSpPr/>
          <p:nvPr/>
        </p:nvSpPr>
        <p:spPr>
          <a:xfrm>
            <a:off x="636984" y="5288994"/>
            <a:ext cx="2274927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Feature Engineering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636984" y="5660827"/>
            <a:ext cx="7870031" cy="262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Created 'age_group' and 'purchase_frequency_days'.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36984" y="6205657"/>
            <a:ext cx="18192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36984" y="6492002"/>
            <a:ext cx="7870031" cy="2286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8" name="Text 15"/>
          <p:cNvSpPr/>
          <p:nvPr/>
        </p:nvSpPr>
        <p:spPr>
          <a:xfrm>
            <a:off x="636984" y="6628686"/>
            <a:ext cx="2366963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Database Integration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636984" y="7000518"/>
            <a:ext cx="7870031" cy="262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Loaded cleaned data into PostgreSQL for SQL analysis.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1923" y="1262182"/>
            <a:ext cx="8674894" cy="562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SQL Insights: Revenue &amp; Discounts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1101923" y="2182297"/>
            <a:ext cx="2251115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Revenue by Gender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923" y="2624495"/>
            <a:ext cx="5996940" cy="33614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42490" y="2182297"/>
            <a:ext cx="3362444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High-Spending Discount Users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542490" y="2606516"/>
            <a:ext cx="5993606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Identified 839 customers using discounts but spending above average.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542490" y="3007876"/>
            <a:ext cx="3332321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Discount-Dependent Products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2490" y="3450074"/>
            <a:ext cx="5996940" cy="33614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8658" y="1460183"/>
            <a:ext cx="9369266" cy="614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SQL Insights: Products &amp; Shipping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688658" y="2501741"/>
            <a:ext cx="3040618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Top 5 Products by Rating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8658" y="3001089"/>
            <a:ext cx="6386513" cy="3099197"/>
          </a:xfrm>
          <a:prstGeom prst="roundRect">
            <a:avLst>
              <a:gd name="adj" fmla="val 95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6277" y="3008709"/>
            <a:ext cx="6371273" cy="51399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92969" y="3118723"/>
            <a:ext cx="2788444" cy="293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Item Purchased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082415" y="3118723"/>
            <a:ext cx="2788444" cy="293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Avg Rating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96277" y="3522702"/>
            <a:ext cx="6371273" cy="51399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92969" y="3632716"/>
            <a:ext cx="2788444" cy="293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Gloves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082415" y="3632716"/>
            <a:ext cx="2788444" cy="293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3.86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6277" y="4036695"/>
            <a:ext cx="6371273" cy="51399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92969" y="4146709"/>
            <a:ext cx="2788444" cy="293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Sandals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082415" y="4146709"/>
            <a:ext cx="2788444" cy="293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3.84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96277" y="4550688"/>
            <a:ext cx="6371273" cy="51399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92969" y="4660702"/>
            <a:ext cx="2788444" cy="293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Boots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082415" y="4660702"/>
            <a:ext cx="2788444" cy="293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3.82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96277" y="5064681"/>
            <a:ext cx="6371273" cy="51399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92969" y="5174694"/>
            <a:ext cx="2788444" cy="293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Hat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082415" y="5174694"/>
            <a:ext cx="2788444" cy="293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3.80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96277" y="5578673"/>
            <a:ext cx="6371273" cy="51399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92969" y="5688687"/>
            <a:ext cx="2788444" cy="293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Skirt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082415" y="5688687"/>
            <a:ext cx="2788444" cy="293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3.78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62850" y="2501741"/>
            <a:ext cx="3276957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Shipping Type Comparison</a:t>
            </a:r>
            <a:endParaRPr lang="en-US" sz="19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2850" y="3001089"/>
            <a:ext cx="6248400" cy="35023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8658" y="1460183"/>
            <a:ext cx="10791230" cy="614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SQL Insights: Subscriptions &amp; Segments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688658" y="2501741"/>
            <a:ext cx="3864769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Subscribers vs. Non-Subscribers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8658" y="3001089"/>
            <a:ext cx="6386513" cy="1851184"/>
          </a:xfrm>
          <a:prstGeom prst="roundRect">
            <a:avLst>
              <a:gd name="adj" fmla="val 159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6277" y="3008709"/>
            <a:ext cx="6371273" cy="80795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92969" y="3118723"/>
            <a:ext cx="1195626" cy="293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Status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489597" y="3118723"/>
            <a:ext cx="1191816" cy="293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Customers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082415" y="3118723"/>
            <a:ext cx="1191816" cy="293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Avg Spend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675233" y="3118723"/>
            <a:ext cx="1195626" cy="587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Total Revenue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96277" y="3816668"/>
            <a:ext cx="6371273" cy="51399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92969" y="3926681"/>
            <a:ext cx="1195626" cy="293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Yes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489597" y="3926681"/>
            <a:ext cx="1191816" cy="293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1053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082415" y="3926681"/>
            <a:ext cx="1191816" cy="293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59.49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75233" y="3926681"/>
            <a:ext cx="1195626" cy="293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62645.00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96277" y="4330660"/>
            <a:ext cx="6371273" cy="51399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92969" y="4440674"/>
            <a:ext cx="1195626" cy="293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489597" y="4440674"/>
            <a:ext cx="1191816" cy="293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2847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082415" y="4440674"/>
            <a:ext cx="1191816" cy="293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59.87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675233" y="4440674"/>
            <a:ext cx="1195626" cy="293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170436.00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562850" y="2501741"/>
            <a:ext cx="2955846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Customer Segmentation</a:t>
            </a:r>
            <a:endParaRPr lang="en-US" sz="19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2850" y="3085110"/>
            <a:ext cx="6385560" cy="3495254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11986531" y="4458058"/>
            <a:ext cx="889436" cy="181432"/>
          </a:xfrm>
          <a:prstGeom prst="roundRect">
            <a:avLst>
              <a:gd name="adj" fmla="val 70559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5345" y="4498361"/>
            <a:ext cx="100825" cy="100825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2175577" y="4483264"/>
            <a:ext cx="637375" cy="131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Loyal·79.9%</a:t>
            </a:r>
            <a:endParaRPr lang="en-US" sz="700" dirty="0"/>
          </a:p>
        </p:txBody>
      </p:sp>
      <p:sp>
        <p:nvSpPr>
          <p:cNvPr id="25" name="Text 21"/>
          <p:cNvSpPr/>
          <p:nvPr/>
        </p:nvSpPr>
        <p:spPr>
          <a:xfrm>
            <a:off x="12421469" y="4483264"/>
            <a:ext cx="391483" cy="131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·79.9%</a:t>
            </a:r>
            <a:endParaRPr lang="en-US" sz="700" dirty="0"/>
          </a:p>
        </p:txBody>
      </p:sp>
      <p:sp>
        <p:nvSpPr>
          <p:cNvPr id="26" name="Text 22"/>
          <p:cNvSpPr/>
          <p:nvPr/>
        </p:nvSpPr>
        <p:spPr>
          <a:xfrm>
            <a:off x="12461771" y="4483264"/>
            <a:ext cx="27044" cy="131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27" name="Shape 23"/>
          <p:cNvSpPr/>
          <p:nvPr/>
        </p:nvSpPr>
        <p:spPr>
          <a:xfrm>
            <a:off x="11986531" y="4706706"/>
            <a:ext cx="854384" cy="181432"/>
          </a:xfrm>
          <a:prstGeom prst="roundRect">
            <a:avLst>
              <a:gd name="adj" fmla="val 70559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5345" y="4747010"/>
            <a:ext cx="100825" cy="100825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2175577" y="4731912"/>
            <a:ext cx="602322" cy="131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New·2.13%</a:t>
            </a:r>
            <a:endParaRPr lang="en-US" sz="700" dirty="0"/>
          </a:p>
        </p:txBody>
      </p:sp>
      <p:sp>
        <p:nvSpPr>
          <p:cNvPr id="30" name="Text 25"/>
          <p:cNvSpPr/>
          <p:nvPr/>
        </p:nvSpPr>
        <p:spPr>
          <a:xfrm>
            <a:off x="12386416" y="4731912"/>
            <a:ext cx="391483" cy="131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·2.13%</a:t>
            </a:r>
            <a:endParaRPr lang="en-US" sz="700" dirty="0"/>
          </a:p>
        </p:txBody>
      </p:sp>
      <p:sp>
        <p:nvSpPr>
          <p:cNvPr id="31" name="Text 26"/>
          <p:cNvSpPr/>
          <p:nvPr/>
        </p:nvSpPr>
        <p:spPr>
          <a:xfrm>
            <a:off x="12426720" y="4731912"/>
            <a:ext cx="27044" cy="131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32" name="Shape 27"/>
          <p:cNvSpPr/>
          <p:nvPr/>
        </p:nvSpPr>
        <p:spPr>
          <a:xfrm>
            <a:off x="11986531" y="4955354"/>
            <a:ext cx="1173924" cy="181432"/>
          </a:xfrm>
          <a:prstGeom prst="roundRect">
            <a:avLst>
              <a:gd name="adj" fmla="val 70559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45345" y="4995658"/>
            <a:ext cx="100825" cy="100825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2175577" y="4980560"/>
            <a:ext cx="921863" cy="131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Returning·17.97%</a:t>
            </a:r>
            <a:endParaRPr lang="en-US" sz="700" dirty="0"/>
          </a:p>
        </p:txBody>
      </p:sp>
      <p:sp>
        <p:nvSpPr>
          <p:cNvPr id="35" name="Text 29"/>
          <p:cNvSpPr/>
          <p:nvPr/>
        </p:nvSpPr>
        <p:spPr>
          <a:xfrm>
            <a:off x="12648192" y="4980560"/>
            <a:ext cx="449248" cy="131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·17.97%</a:t>
            </a:r>
            <a:endParaRPr lang="en-US" sz="700" dirty="0"/>
          </a:p>
        </p:txBody>
      </p:sp>
      <p:sp>
        <p:nvSpPr>
          <p:cNvPr id="36" name="Text 30"/>
          <p:cNvSpPr/>
          <p:nvPr/>
        </p:nvSpPr>
        <p:spPr>
          <a:xfrm>
            <a:off x="12688496" y="4980560"/>
            <a:ext cx="27044" cy="131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7708" y="1324570"/>
            <a:ext cx="10852904" cy="631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SQL Insights: Product Categories &amp; Age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07708" y="2407087"/>
            <a:ext cx="3540443" cy="31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Top 3 Products per Category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707708" y="2925723"/>
            <a:ext cx="6360795" cy="3776543"/>
          </a:xfrm>
          <a:prstGeom prst="roundRect">
            <a:avLst>
              <a:gd name="adj" fmla="val 803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5328" y="2933343"/>
            <a:ext cx="6344841" cy="53732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8329" y="3049072"/>
            <a:ext cx="1706523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Category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3036808" y="3049072"/>
            <a:ext cx="1702713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Item Purchased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151477" y="3049072"/>
            <a:ext cx="1706523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Total Orders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15328" y="3470672"/>
            <a:ext cx="6344841" cy="53732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8329" y="3586401"/>
            <a:ext cx="1706523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Accessories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036808" y="3586401"/>
            <a:ext cx="1702713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Jewelry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151477" y="3586401"/>
            <a:ext cx="1706523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171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15328" y="4008001"/>
            <a:ext cx="6344841" cy="53732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18329" y="4123730"/>
            <a:ext cx="1706523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Accessories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036808" y="4123730"/>
            <a:ext cx="1702713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Sunglasses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151477" y="4123730"/>
            <a:ext cx="1706523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161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15328" y="4545330"/>
            <a:ext cx="6344841" cy="53732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18329" y="4661059"/>
            <a:ext cx="1706523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Clothing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3036808" y="4661059"/>
            <a:ext cx="1702713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Blouse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151477" y="4661059"/>
            <a:ext cx="1706523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171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15328" y="5082659"/>
            <a:ext cx="6344841" cy="53732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18329" y="5198388"/>
            <a:ext cx="1706523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Clothing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3036808" y="5198388"/>
            <a:ext cx="1702713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Pants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5151477" y="5198388"/>
            <a:ext cx="1706523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171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715328" y="5619988"/>
            <a:ext cx="6344841" cy="53732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18329" y="5735717"/>
            <a:ext cx="1706523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Footwear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3036808" y="5735717"/>
            <a:ext cx="1702713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Sandals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5151477" y="5735717"/>
            <a:ext cx="1706523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160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715328" y="6157317"/>
            <a:ext cx="6344841" cy="53732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18329" y="6273046"/>
            <a:ext cx="1706523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Footwear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3036808" y="6273046"/>
            <a:ext cx="1702713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Shoes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5151477" y="6273046"/>
            <a:ext cx="1706523" cy="305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150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7569517" y="2407087"/>
            <a:ext cx="2768798" cy="31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Revenue by Age Group</a:t>
            </a:r>
            <a:endParaRPr lang="en-US" sz="195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9517" y="2925723"/>
            <a:ext cx="6248400" cy="35023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40593"/>
            <a:ext cx="631448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Dashboard in Power BI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002881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3.9K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6280190" y="5034677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Customers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893493" y="4002881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$59.76</a:t>
            </a:r>
            <a:endParaRPr lang="en-US" sz="5850" dirty="0"/>
          </a:p>
        </p:txBody>
      </p:sp>
      <p:sp>
        <p:nvSpPr>
          <p:cNvPr id="7" name="Text 4"/>
          <p:cNvSpPr/>
          <p:nvPr/>
        </p:nvSpPr>
        <p:spPr>
          <a:xfrm>
            <a:off x="8893493" y="5034677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Avg Purchase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506795" y="4002881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3.75</a:t>
            </a:r>
            <a:endParaRPr lang="en-US" sz="5850" dirty="0"/>
          </a:p>
        </p:txBody>
      </p:sp>
      <p:sp>
        <p:nvSpPr>
          <p:cNvPr id="9" name="Text 6"/>
          <p:cNvSpPr/>
          <p:nvPr/>
        </p:nvSpPr>
        <p:spPr>
          <a:xfrm>
            <a:off x="11506795" y="5034677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Avg Review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2547" y="2343626"/>
            <a:ext cx="4975503" cy="541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Dashboard: Key Visuals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092547" y="3215402"/>
            <a:ext cx="3128724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% Customers by Subscription</a:t>
            </a:r>
            <a:endParaRPr lang="en-US" sz="1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2547" y="3680861"/>
            <a:ext cx="3505200" cy="19186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633817" y="4502753"/>
            <a:ext cx="393110" cy="99593"/>
          </a:xfrm>
          <a:prstGeom prst="roundRect">
            <a:avLst>
              <a:gd name="adj" fmla="val 128539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6102" y="4524876"/>
            <a:ext cx="55345" cy="5534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942171" y="4579852"/>
            <a:ext cx="273022" cy="77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Yes·27%</a:t>
            </a:r>
            <a:endParaRPr lang="en-US" sz="700" dirty="0"/>
          </a:p>
        </p:txBody>
      </p:sp>
      <p:sp>
        <p:nvSpPr>
          <p:cNvPr id="9" name="Text 4"/>
          <p:cNvSpPr/>
          <p:nvPr/>
        </p:nvSpPr>
        <p:spPr>
          <a:xfrm>
            <a:off x="9034698" y="4579852"/>
            <a:ext cx="180496" cy="77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·27%</a:t>
            </a:r>
            <a:endParaRPr lang="en-US" sz="700" dirty="0"/>
          </a:p>
        </p:txBody>
      </p:sp>
      <p:sp>
        <p:nvSpPr>
          <p:cNvPr id="10" name="Text 5"/>
          <p:cNvSpPr/>
          <p:nvPr/>
        </p:nvSpPr>
        <p:spPr>
          <a:xfrm>
            <a:off x="9058409" y="4579852"/>
            <a:ext cx="15910" cy="77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11" name="Shape 6"/>
          <p:cNvSpPr/>
          <p:nvPr/>
        </p:nvSpPr>
        <p:spPr>
          <a:xfrm>
            <a:off x="8633817" y="4639242"/>
            <a:ext cx="382373" cy="99593"/>
          </a:xfrm>
          <a:prstGeom prst="roundRect">
            <a:avLst>
              <a:gd name="adj" fmla="val 128539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6102" y="4661366"/>
            <a:ext cx="55345" cy="5534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42171" y="4726133"/>
            <a:ext cx="261514" cy="77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No·73%</a:t>
            </a:r>
            <a:endParaRPr lang="en-US" sz="700" dirty="0"/>
          </a:p>
        </p:txBody>
      </p:sp>
      <p:sp>
        <p:nvSpPr>
          <p:cNvPr id="14" name="Text 8"/>
          <p:cNvSpPr/>
          <p:nvPr/>
        </p:nvSpPr>
        <p:spPr>
          <a:xfrm>
            <a:off x="9023190" y="4726133"/>
            <a:ext cx="180496" cy="77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·73%</a:t>
            </a:r>
            <a:endParaRPr lang="en-US" sz="700" dirty="0"/>
          </a:p>
        </p:txBody>
      </p:sp>
      <p:sp>
        <p:nvSpPr>
          <p:cNvPr id="15" name="Text 9"/>
          <p:cNvSpPr/>
          <p:nvPr/>
        </p:nvSpPr>
        <p:spPr>
          <a:xfrm>
            <a:off x="9046901" y="4726133"/>
            <a:ext cx="15910" cy="77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16" name="Text 10"/>
          <p:cNvSpPr/>
          <p:nvPr/>
        </p:nvSpPr>
        <p:spPr>
          <a:xfrm>
            <a:off x="10277237" y="3215402"/>
            <a:ext cx="2222183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Revenue by Category</a:t>
            </a:r>
            <a:endParaRPr lang="en-US" sz="17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7237" y="3634740"/>
            <a:ext cx="3505200" cy="19647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3082"/>
            <a:ext cx="781919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Business Recommendations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05489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F9F7F7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223230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E251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7770" y="241935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139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Boost Subscriptions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3629978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Promote exclusive benefits for subscribers.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2005489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F9F7F7"/>
          </a:solidFill>
          <a:ln/>
        </p:spPr>
      </p:sp>
      <p:sp>
        <p:nvSpPr>
          <p:cNvPr id="9" name="Shape 6"/>
          <p:cNvSpPr/>
          <p:nvPr/>
        </p:nvSpPr>
        <p:spPr>
          <a:xfrm>
            <a:off x="5443776" y="223230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E251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0942" y="241935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3776" y="3139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Customer Loyalty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43776" y="3629978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Reward repeat buyers to foster loyalty.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2005489"/>
            <a:ext cx="4196358" cy="2577108"/>
          </a:xfrm>
          <a:prstGeom prst="roundRect">
            <a:avLst>
              <a:gd name="adj" fmla="val 1320"/>
            </a:avLst>
          </a:prstGeom>
          <a:solidFill>
            <a:srgbClr val="F9F7F7"/>
          </a:solidFill>
          <a:ln/>
        </p:spPr>
      </p:sp>
      <p:sp>
        <p:nvSpPr>
          <p:cNvPr id="14" name="Shape 10"/>
          <p:cNvSpPr/>
          <p:nvPr/>
        </p:nvSpPr>
        <p:spPr>
          <a:xfrm>
            <a:off x="9866948" y="223230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E251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54114" y="2419350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6948" y="3139559"/>
            <a:ext cx="32080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Review Discount Policy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66948" y="3629978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Balance sales boosts with margin control.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93790" y="4809411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F9F7F7"/>
          </a:solidFill>
          <a:ln/>
        </p:spPr>
      </p:sp>
      <p:sp>
        <p:nvSpPr>
          <p:cNvPr id="19" name="Shape 14"/>
          <p:cNvSpPr/>
          <p:nvPr/>
        </p:nvSpPr>
        <p:spPr>
          <a:xfrm>
            <a:off x="1020604" y="503622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E251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07770" y="5223272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20604" y="59434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Product Positioning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1020604" y="6433899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Highlight top-rated and best-selling products.</a:t>
            </a:r>
            <a:endParaRPr lang="en-US" sz="1750" dirty="0"/>
          </a:p>
        </p:txBody>
      </p:sp>
      <p:sp>
        <p:nvSpPr>
          <p:cNvPr id="23" name="Shape 17"/>
          <p:cNvSpPr/>
          <p:nvPr/>
        </p:nvSpPr>
        <p:spPr>
          <a:xfrm>
            <a:off x="7428548" y="4809411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F9F7F7"/>
          </a:solidFill>
          <a:ln/>
        </p:spPr>
      </p:sp>
      <p:sp>
        <p:nvSpPr>
          <p:cNvPr id="24" name="Shape 18"/>
          <p:cNvSpPr/>
          <p:nvPr/>
        </p:nvSpPr>
        <p:spPr>
          <a:xfrm>
            <a:off x="7655362" y="503622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E2513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42528" y="5223272"/>
            <a:ext cx="306110" cy="30611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55362" y="59434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Targeted Marketing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7655362" y="6433899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Focus on high-revenue age groups and express-shipping users.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2026-03-01T20:07:43Z</dcterms:created>
  <dcterms:modified xsi:type="dcterms:W3CDTF">2026-03-01T20:07:43Z</dcterms:modified>
</cp:coreProperties>
</file>